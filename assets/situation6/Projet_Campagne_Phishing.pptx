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jesto-logo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2743200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325880"/>
            <a:ext cx="9144000" cy="54864"/>
          </a:xfrm>
          <a:prstGeom prst="rect">
            <a:avLst/>
          </a:prstGeom>
          <a:solidFill>
            <a:srgbClr val="A0632A"/>
          </a:solidFill>
          <a:ln w="12700">
            <a:solidFill>
              <a:srgbClr val="A0632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5087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 RENDU DE PROJET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06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de campagne de Phishing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27157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 des Guides et Scouts d’Europe (AGSE)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337560"/>
            <a:ext cx="4114800" cy="548640"/>
          </a:xfrm>
          <a:prstGeom prst="rect">
            <a:avLst/>
          </a:prstGeom>
          <a:solidFill>
            <a:srgbClr val="1A3F55"/>
          </a:solidFill>
          <a:ln w="12700">
            <a:solidFill>
              <a:srgbClr val="2A5F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337413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06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35753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Paula Ciacan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3337560"/>
            <a:ext cx="4114800" cy="548640"/>
          </a:xfrm>
          <a:prstGeom prst="rect">
            <a:avLst/>
          </a:prstGeom>
          <a:solidFill>
            <a:srgbClr val="1A3F55"/>
          </a:solidFill>
          <a:ln w="12700">
            <a:solidFill>
              <a:srgbClr val="2A5F7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83480" y="337413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06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983480" y="35753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AGSE – scouts-europe.org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995928"/>
            <a:ext cx="4114800" cy="548640"/>
          </a:xfrm>
          <a:prstGeom prst="rect">
            <a:avLst/>
          </a:prstGeom>
          <a:solidFill>
            <a:srgbClr val="1A3F55"/>
          </a:solidFill>
          <a:ln w="12700">
            <a:solidFill>
              <a:srgbClr val="2A5F7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403250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06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94360" y="42336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GoPhish · Postfix · Nginx · Debian 13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46320" y="3995928"/>
            <a:ext cx="4114800" cy="548640"/>
          </a:xfrm>
          <a:prstGeom prst="rect">
            <a:avLst/>
          </a:prstGeom>
          <a:solidFill>
            <a:srgbClr val="1A3F55"/>
          </a:solidFill>
          <a:ln w="12700">
            <a:solidFill>
              <a:srgbClr val="2A5F7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83480" y="403250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06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PÉRIODE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983480" y="42336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Fév. – Mai 2026 (∼3 mois)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pic>
        <p:nvPicPr>
          <p:cNvPr id="3" name="Image 0" descr="/home/claude/jesto-logo-ic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1887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65760" y="777240"/>
            <a:ext cx="411480" cy="50292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7772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8229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&amp; entreprise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1463040"/>
            <a:ext cx="411480" cy="50292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4630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15087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&amp; objectifs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2148840"/>
            <a:ext cx="411480" cy="50292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21488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8680" y="2194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 juridique &amp; éthique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" y="2834640"/>
            <a:ext cx="411480" cy="50292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28346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8680" y="2880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&amp; choix de la solution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" y="3520440"/>
            <a:ext cx="411480" cy="50292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35204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68680" y="35661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technique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65760" y="4206240"/>
            <a:ext cx="411480" cy="50292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42062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68680" y="42519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œuvre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754880" y="777240"/>
            <a:ext cx="411480" cy="50292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54880" y="7772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257800" y="8229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Sécurisation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754880" y="1463040"/>
            <a:ext cx="411480" cy="50292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0" y="14630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257800" y="15087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GoPhish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754880" y="2148840"/>
            <a:ext cx="411480" cy="50292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54880" y="21488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5257800" y="2194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&amp; validation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754880" y="2834640"/>
            <a:ext cx="411480" cy="50292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4880" y="28346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5257800" y="2880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&amp; recommandations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754880" y="3520440"/>
            <a:ext cx="411480" cy="50292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54880" y="35204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5257800" y="35661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 personnel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pic>
        <p:nvPicPr>
          <p:cNvPr id="39" name="Image 1" descr="/home/claude/jesto-logo-ic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001768"/>
            <a:ext cx="128016" cy="128016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320040" y="498348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Jesto Informatique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8595360" y="498348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pic>
        <p:nvPicPr>
          <p:cNvPr id="3" name="Image 0" descr="/home/claude/jesto-logo-ic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1887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&amp; 2 — Contexte, objectifs et périmètre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65760" y="749808"/>
            <a:ext cx="4023360" cy="384048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74980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Jesto Informatique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1170432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ESN : admin système &amp; réseau, cybersécurité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confiée par la DOP de l’AGSE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BTS SIO alternance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2651760"/>
            <a:ext cx="4023360" cy="384048"/>
          </a:xfrm>
          <a:prstGeom prst="rect">
            <a:avLst/>
          </a:prstGeom>
          <a:solidFill>
            <a:srgbClr val="A0632A"/>
          </a:solidFill>
          <a:ln w="12700">
            <a:solidFill>
              <a:srgbClr val="A063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26517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: AGSE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3072384"/>
            <a:ext cx="4023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 loi 1901, scouts à travers l’Europe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513 bénévoles : Google Workspace (@scouts-europe.org)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Salariés sur Microsoft 365 (hors périmètre)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749808"/>
            <a:ext cx="4023360" cy="384048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74980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754880" y="1170432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Évaluer la vigilance des bénévoles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profils vulnérables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réutilisable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décisionnel pour la direction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54880" y="3090672"/>
            <a:ext cx="4023360" cy="384048"/>
          </a:xfrm>
          <a:prstGeom prst="rect">
            <a:avLst/>
          </a:prstGeom>
          <a:solidFill>
            <a:srgbClr val="A0632A"/>
          </a:solidFill>
          <a:ln w="12700">
            <a:solidFill>
              <a:srgbClr val="A063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30906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Problématique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54880" y="351129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80% des cyberattaques réussies passent par le phishing. Données de mineurs et documents confidentiels exposés en cas de compromission.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pic>
        <p:nvPicPr>
          <p:cNvPr id="18" name="Image 1" descr="/home/claude/jesto-logo-ic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001768"/>
            <a:ext cx="128016" cy="12801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20040" y="498348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Jesto Informatique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8595360" y="498348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pic>
        <p:nvPicPr>
          <p:cNvPr id="3" name="Image 0" descr="/home/claude/jesto-logo-ic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1887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— Cadre juridique &amp; éthique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65760" y="777240"/>
            <a:ext cx="8412480" cy="685800"/>
          </a:xfrm>
          <a:prstGeom prst="rect">
            <a:avLst/>
          </a:prstGeom>
          <a:solidFill>
            <a:srgbClr val="FFF8E1"/>
          </a:solidFill>
          <a:ln w="12700">
            <a:solidFill>
              <a:srgbClr val="A0632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777240"/>
            <a:ext cx="73152" cy="685800"/>
          </a:xfrm>
          <a:prstGeom prst="rect">
            <a:avLst/>
          </a:prstGeom>
          <a:solidFill>
            <a:srgbClr val="A0632A"/>
          </a:solidFill>
          <a:ln w="12700">
            <a:solidFill>
              <a:srgbClr val="A063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323-1 C. pénal : accès non autorisé → 2 ans / 60 000 € — Autorisation écrite formelle de la DOP obtenue.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1600200"/>
            <a:ext cx="2651760" cy="3154680"/>
          </a:xfrm>
          <a:prstGeom prst="rect">
            <a:avLst/>
          </a:prstGeom>
          <a:solidFill>
            <a:srgbClr val="F5F5F5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1600200"/>
            <a:ext cx="2651760" cy="384048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16002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Autorisation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02996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Accord écrit DOP de l’AGSE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Périmètre : @scouts-europe.org uniquement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dédiée et isolée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1600200"/>
            <a:ext cx="2651760" cy="3154680"/>
          </a:xfrm>
          <a:prstGeom prst="rect">
            <a:avLst/>
          </a:prstGeom>
          <a:solidFill>
            <a:srgbClr val="F5F5F5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1600200"/>
            <a:ext cx="2651760" cy="384048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0" y="16002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 RGPD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291840" y="202996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Minimisation des données collectées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Suppression après analyse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restreint par IP (UFW)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Finalité : sensibilisation interne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35040" y="1600200"/>
            <a:ext cx="2651760" cy="3154680"/>
          </a:xfrm>
          <a:prstGeom prst="rect">
            <a:avLst/>
          </a:prstGeom>
          <a:solidFill>
            <a:srgbClr val="F5F5F5"/>
          </a:solidFill>
          <a:ln w="12700">
            <a:solidFill>
              <a:srgbClr val="A0632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35040" y="1600200"/>
            <a:ext cx="2651760" cy="384048"/>
          </a:xfrm>
          <a:prstGeom prst="rect">
            <a:avLst/>
          </a:prstGeom>
          <a:solidFill>
            <a:srgbClr val="A0632A"/>
          </a:solidFill>
          <a:ln w="12700">
            <a:solidFill>
              <a:srgbClr val="A063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35040" y="16002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Éthique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126480" y="202996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nominatifs → direction uniquement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Statistiques anonymisées en communication large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awareness post-test immédiate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pic>
        <p:nvPicPr>
          <p:cNvPr id="21" name="Image 1" descr="/home/claude/jesto-logo-ic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001768"/>
            <a:ext cx="128016" cy="12801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20040" y="498348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Jesto Informatique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8595360" y="498348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pic>
        <p:nvPicPr>
          <p:cNvPr id="3" name="Image 0" descr="/home/claude/jesto-logo-ic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1887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— Analyse &amp; choix de la solution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49808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201168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Critère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GoPhish 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Guardey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 Attack Sim.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6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Coût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Gratuit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Abonnement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Inclus M365 E5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Hébergement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On-premise/VPS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Microsoft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Données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Maîtrise totale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Partielle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Limitée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246120"/>
            <a:ext cx="8412480" cy="384048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65760" y="32461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Étude des coûts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365760" y="3703320"/>
            <a:ext cx="265176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3703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 GoPhish (OVH, 6 mois)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2286000" y="37033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4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25,68 €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0" y="3703320"/>
            <a:ext cx="265176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91840" y="3703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 SMTP (OVH, 6 mois)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120640" y="37033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4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25,68 €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3703320"/>
            <a:ext cx="265176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126480" y="3703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Domaine account-google.fr (1 an)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7955280" y="37033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4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9,99 €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5760" y="4297680"/>
            <a:ext cx="265176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7200" y="4297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 Let’s Encrypt + GoPhish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2286000" y="42976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4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Gratuit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200400" y="4297680"/>
            <a:ext cx="2651760" cy="50292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291840" y="4297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120640" y="42976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06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61,35 € HT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pic>
        <p:nvPicPr>
          <p:cNvPr id="24" name="Image 1" descr="/home/claude/jesto-logo-ic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001768"/>
            <a:ext cx="128016" cy="12801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20040" y="498348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Jesto Informatique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8595360" y="498348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pic>
        <p:nvPicPr>
          <p:cNvPr id="3" name="Image 0" descr="/home/claude/jesto-logo-ic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1887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— Architecture technique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solidFill>
            <a:srgbClr val="E8F0F5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7498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4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Flux : GoPhish (VPS1) → Postfix (VPS2) → Gmail → Clic → signin.account-google.fr (VPS1) → Soumission → awareness.account-google.fr (VPS2)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645920"/>
                <a:gridCol w="137160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Rôle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6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GoPhish – vps-60be560b.vps.ovh.net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57.129.120.79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Debian 13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vCores / 8 Go / 75 Go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SMTP – vps-7xxxxxx.vps.ovh.net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57.129.42.95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Debian 13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vCores / 8 Go / 75 Go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2423160"/>
            <a:ext cx="8412480" cy="347472"/>
          </a:xfrm>
          <a:prstGeom prst="rect">
            <a:avLst/>
          </a:prstGeom>
          <a:solidFill>
            <a:srgbClr val="A0632A"/>
          </a:solidFill>
          <a:ln w="12700">
            <a:solidFill>
              <a:srgbClr val="A0632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2423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DNS – account-google.fr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07208"/>
          <a:ext cx="8412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320040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Sous-domaine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Valeur / Cible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Rôle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6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57.129.120.79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Landing page phishing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awareness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57.129.42.95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 sensibilisation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57.129.42.95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Serveur SMTP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(racine)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mail.account-google.fr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Routage mail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TXT / SPF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(racine)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v=spf1 ip4:57.129.42.95 ~all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Authentification SPF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pic>
        <p:nvPicPr>
          <p:cNvPr id="12" name="Image 1" descr="/home/claude/jesto-logo-ic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001768"/>
            <a:ext cx="128016" cy="12801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20040" y="498348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Jesto Informatique</a:t>
            </a:r>
            <a:endParaRPr lang="en-US" sz="800" dirty="0"/>
          </a:p>
        </p:txBody>
      </p:sp>
      <p:sp>
        <p:nvSpPr>
          <p:cNvPr id="14" name="Text 8"/>
          <p:cNvSpPr/>
          <p:nvPr/>
        </p:nvSpPr>
        <p:spPr>
          <a:xfrm>
            <a:off x="8595360" y="498348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pic>
        <p:nvPicPr>
          <p:cNvPr id="3" name="Image 0" descr="/home/claude/jesto-logo-ic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1887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— Mise en œuvre de l’infrastructure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65760" y="749808"/>
            <a:ext cx="2651760" cy="4005072"/>
          </a:xfrm>
          <a:prstGeom prst="rect">
            <a:avLst/>
          </a:prstGeom>
          <a:solidFill>
            <a:srgbClr val="F5F5F5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749808"/>
            <a:ext cx="2651760" cy="384048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7498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 GoPhish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188720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GoPhish v0.12.1 dans /home/debian/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config.json : listen_url 0.0.0.0:3333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systemd (restart always)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Certbot DNS OVH → SSL 90j (exp. 02/08/2026)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749808"/>
            <a:ext cx="2651760" cy="4005072"/>
          </a:xfrm>
          <a:prstGeom prst="rect">
            <a:avLst/>
          </a:prstGeom>
          <a:solidFill>
            <a:srgbClr val="F5F5F5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0" y="749808"/>
            <a:ext cx="2651760" cy="384048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0" y="7498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 SMTP (Postfix)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91840" y="1188720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myhostname=mail.account-google.fr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mynetworks=127.0.0.0/8 57.129.120.79/32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d’open relay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reverse proxy → TLS moderne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749808"/>
            <a:ext cx="2651760" cy="4005072"/>
          </a:xfrm>
          <a:prstGeom prst="rect">
            <a:avLst/>
          </a:prstGeom>
          <a:solidFill>
            <a:srgbClr val="F5F5F5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35040" y="749808"/>
            <a:ext cx="2651760" cy="3840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0" y="7498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Difficultés résolues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26480" y="1188720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directory → chemin ExecStart corrigé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SASL CRAM-MD5 → restriction IP (mynetworks)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 cypher overlap → Nginx reverse proxy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 rid invalide → nouveau lien campagne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pic>
        <p:nvPicPr>
          <p:cNvPr id="18" name="Image 1" descr="/home/claude/jesto-logo-ic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001768"/>
            <a:ext cx="128016" cy="12801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20040" y="498348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Jesto Informatique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8595360" y="498348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pic>
        <p:nvPicPr>
          <p:cNvPr id="3" name="Image 0" descr="/home/claude/jesto-logo-ic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1887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— Sécurisation de l’infrastructure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65760" y="749808"/>
            <a:ext cx="4114800" cy="384048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74980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UFW – VPS GoPhish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207008"/>
            <a:ext cx="64008" cy="50292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1179576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22 (SSH) : IP admin uniquement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865376"/>
            <a:ext cx="64008" cy="50292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37944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3333 (admin) : IP admin uniquement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523744"/>
            <a:ext cx="64008" cy="50292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249631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80 (landing) : ouvert publiquement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182112"/>
            <a:ext cx="64008" cy="50292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" y="315468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443 (HTTPS) : ouvert publiquement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749808"/>
            <a:ext cx="4114800" cy="384048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74980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UFW – VPS SMTP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846320" y="1207008"/>
            <a:ext cx="64008" cy="50292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10912" y="1179576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22 (SSH) : IP admin uniquement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46320" y="1865376"/>
            <a:ext cx="64008" cy="50292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10912" y="1837944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25 (SMTP) : 57.129.120.79 uniquement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46320" y="2523744"/>
            <a:ext cx="64008" cy="50292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10912" y="249631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80 &amp; 443 : Nginx awareness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846320" y="3182112"/>
            <a:ext cx="64008" cy="50292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10912" y="315468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port public SMTP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65760" y="3977640"/>
            <a:ext cx="8412480" cy="749808"/>
          </a:xfrm>
          <a:prstGeom prst="rect">
            <a:avLst/>
          </a:prstGeom>
          <a:solidFill>
            <a:srgbClr val="E8F0F5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3977640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4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SPF : v=spf1 ip4:57.129.42.95 ~all  —  Softfail préféré (-all) sur domaine neuf sans historique de réputation.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1B4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DKIM / DMARC : non implémentés (domaine whitelisté dans Google Admin AGSE). Recommandé pour un usage pérenne.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pic>
        <p:nvPicPr>
          <p:cNvPr id="28" name="Image 1" descr="/home/claude/jesto-logo-ic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001768"/>
            <a:ext cx="128016" cy="12801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20040" y="498348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Jesto Informatique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8595360" y="498348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pic>
        <p:nvPicPr>
          <p:cNvPr id="3" name="Image 0" descr="/home/claude/jesto-logo-ic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1887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— Configuration de l’outil GoPhish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65760" y="749808"/>
            <a:ext cx="2651760" cy="4005072"/>
          </a:xfrm>
          <a:prstGeom prst="rect">
            <a:avLst/>
          </a:prstGeom>
          <a:solidFill>
            <a:srgbClr val="EEF4F8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749808"/>
            <a:ext cx="2651760" cy="384048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7498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d’envoi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188720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: noreply@account-google.fr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: 57.129.42.95:25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: restriction IP (pas de login/mdp)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 SSL errors : activé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749808"/>
            <a:ext cx="2651760" cy="4005072"/>
          </a:xfrm>
          <a:prstGeom prst="rect">
            <a:avLst/>
          </a:prstGeom>
          <a:solidFill>
            <a:srgbClr val="FBF5EE"/>
          </a:solidFill>
          <a:ln w="12700">
            <a:solidFill>
              <a:srgbClr val="A0632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0" y="749808"/>
            <a:ext cx="2651760" cy="384048"/>
          </a:xfrm>
          <a:prstGeom prst="rect">
            <a:avLst/>
          </a:prstGeom>
          <a:solidFill>
            <a:srgbClr val="A0632A"/>
          </a:solidFill>
          <a:ln w="12700">
            <a:solidFill>
              <a:srgbClr val="A063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0" y="7498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email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91840" y="1188720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Scénario : alerte connexion Bucarest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Identité Google reproduite (SVG)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: {{.FirstName}} &amp; {{.URL}}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 : Alerte sécurité – Activité inhabituelle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749808"/>
            <a:ext cx="2651760" cy="4005072"/>
          </a:xfrm>
          <a:prstGeom prst="rect">
            <a:avLst/>
          </a:prstGeom>
          <a:solidFill>
            <a:srgbClr val="EEF4F8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35040" y="749808"/>
            <a:ext cx="2651760" cy="384048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0" y="7498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26480" y="1188720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Reproduction page login Google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{{.Email}} pré-rempli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data + passwords activés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Redirect → awareness.account-google.fr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480060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Limite tracking pixel : Gmail précharge via proxy → taux d’ouverture potentiellement surestimé. Métriques fiables : clic + soumission.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pic>
        <p:nvPicPr>
          <p:cNvPr id="19" name="Image 1" descr="/home/claude/jesto-logo-ic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001768"/>
            <a:ext cx="128016" cy="12801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20040" y="498348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Jesto Informatique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8595360" y="498348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pic>
        <p:nvPicPr>
          <p:cNvPr id="3" name="Image 0" descr="/home/claude/jesto-logo-ic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1887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— Tests et validation — Campagne lancée le 5 mai 2026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65760" y="777240"/>
            <a:ext cx="84124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777240"/>
            <a:ext cx="54864" cy="5760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777240"/>
            <a:ext cx="3657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8138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Envoi SMTP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37560" y="813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Test Email GoPhish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0" y="813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reçu VPS SMTP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138160" y="777240"/>
            <a:ext cx="5943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1463040"/>
            <a:ext cx="8412480" cy="57607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1463040"/>
            <a:ext cx="54864" cy="5760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1463040"/>
            <a:ext cx="3657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60120" y="14996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Délivrabilité Gmail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337560" y="14996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Envoi boite réelle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0" y="14996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 (non spam)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38160" y="1463040"/>
            <a:ext cx="5943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65760" y="2148840"/>
            <a:ext cx="84124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5760" y="2148840"/>
            <a:ext cx="54864" cy="5760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2148840"/>
            <a:ext cx="3657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60120" y="21854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337560" y="21854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Tablette 4G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943600" y="21854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Google + email pré-rempli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138160" y="2148840"/>
            <a:ext cx="5943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65760" y="2834640"/>
            <a:ext cx="8412480" cy="57607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65760" y="2834640"/>
            <a:ext cx="54864" cy="5760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2834640"/>
            <a:ext cx="3657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60120" y="2871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credentials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337560" y="28712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Saisie mot de passe test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943600" y="28712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dans GoPhish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138160" y="2834640"/>
            <a:ext cx="5943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65760" y="3520440"/>
            <a:ext cx="84124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65760" y="3520440"/>
            <a:ext cx="54864" cy="5760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2920" y="3520440"/>
            <a:ext cx="3657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960120" y="35570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Redirection awareness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3337560" y="35570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Soumission formulaire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943600" y="35570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sensibilisation OK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138160" y="3520440"/>
            <a:ext cx="5943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365760" y="4206240"/>
            <a:ext cx="8412480" cy="57607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65760" y="4206240"/>
            <a:ext cx="54864" cy="5760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2920" y="4206240"/>
            <a:ext cx="3657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960120" y="42428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landing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3337560" y="4242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Navigateur externe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5943600" y="4242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Cadenas OK, pas d’erreur TLS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8138160" y="4206240"/>
            <a:ext cx="5943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365760" y="486460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Tests depuis réseau entreprise bloqués par filtre sécurité (domaine account-google.fr détecté suspect) → tests réalisés en 4G.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pic>
        <p:nvPicPr>
          <p:cNvPr id="49" name="Image 1" descr="/home/claude/jesto-logo-ic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001768"/>
            <a:ext cx="128016" cy="128016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320040" y="498348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Jesto Informatique</a:t>
            </a:r>
            <a:endParaRPr lang="en-US" sz="800" dirty="0"/>
          </a:p>
        </p:txBody>
      </p:sp>
      <p:sp>
        <p:nvSpPr>
          <p:cNvPr id="51" name="Text 47"/>
          <p:cNvSpPr/>
          <p:nvPr/>
        </p:nvSpPr>
        <p:spPr>
          <a:xfrm>
            <a:off x="8595360" y="498348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pic>
        <p:nvPicPr>
          <p:cNvPr id="3" name="Image 0" descr="/home/claude/jesto-logo-ic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1887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— Résultats de la campagne – 513 bénévoles – 5 mai 2026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82880" y="749808"/>
            <a:ext cx="1664208" cy="192024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82880" y="804672"/>
            <a:ext cx="16642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513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82880" y="182880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Emails envoyés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82880" y="2176272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du périmètre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938528" y="749808"/>
            <a:ext cx="1664208" cy="192024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938528" y="804672"/>
            <a:ext cx="16642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75,4%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1938528" y="182880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Emails ouverts*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938528" y="2176272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387 / 513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694176" y="749808"/>
            <a:ext cx="1664208" cy="1920240"/>
          </a:xfrm>
          <a:prstGeom prst="rect">
            <a:avLst/>
          </a:prstGeom>
          <a:solidFill>
            <a:srgbClr val="A0632A"/>
          </a:solidFill>
          <a:ln w="12700">
            <a:solidFill>
              <a:srgbClr val="A063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694176" y="804672"/>
            <a:ext cx="16642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30,4%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3694176" y="182880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Liens cliqués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94176" y="2176272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 / 513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49824" y="749808"/>
            <a:ext cx="1664208" cy="19202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449824" y="804672"/>
            <a:ext cx="16642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17,3%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5449824" y="182880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Identifiants soumis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49824" y="2176272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 / 513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205472" y="749808"/>
            <a:ext cx="1664208" cy="192024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205472" y="804672"/>
            <a:ext cx="16642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2,3%</a:t>
            </a:r>
            <a:endParaRPr lang="en-US" sz="3400" dirty="0"/>
          </a:p>
        </p:txBody>
      </p:sp>
      <p:sp>
        <p:nvSpPr>
          <p:cNvPr id="23" name="Text 20"/>
          <p:cNvSpPr/>
          <p:nvPr/>
        </p:nvSpPr>
        <p:spPr>
          <a:xfrm>
            <a:off x="7205472" y="182880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Signalements IT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205472" y="2176272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513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65760" y="2651760"/>
            <a:ext cx="8412480" cy="347472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26517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57200" y="3044952"/>
            <a:ext cx="8229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30,4% de clics : cohérent avec première campagne en milieu associatif peu sensibilisé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17,3% de soumission → 89 mots de passe réellement saisis sur une fausse page Google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Seulement 2,3% de signalements : réflexe « alerter l’IT » quasi absent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Taux d’ouverture (75,4%) potentiellement surestimé (proxy images Gmail)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pic>
        <p:nvPicPr>
          <p:cNvPr id="29" name="Image 1" descr="/home/claude/jesto-logo-ic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001768"/>
            <a:ext cx="128016" cy="128016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320040" y="498348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Jesto Informatique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8595360" y="498348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pic>
        <p:nvPicPr>
          <p:cNvPr id="3" name="Image 0" descr="/home/claude/jesto-logo-ic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1887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— Recommandations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777240"/>
            <a:ext cx="1280160" cy="6400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77724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737360" y="822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hygiène IT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737360" y="112471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 soumissions + 156 clics → immédiat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1536192"/>
            <a:ext cx="841248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" y="1536192"/>
            <a:ext cx="1280160" cy="6400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1536192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737360" y="15819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2FA Google Workspace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737360" y="188366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les bénévoles → 1 mois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2295144"/>
            <a:ext cx="841248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A0632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" y="2295144"/>
            <a:ext cx="1280160" cy="640080"/>
          </a:xfrm>
          <a:prstGeom prst="rect">
            <a:avLst/>
          </a:prstGeom>
          <a:solidFill>
            <a:srgbClr val="A0632A"/>
          </a:solidFill>
          <a:ln w="12700">
            <a:solidFill>
              <a:srgbClr val="A063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2295144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HAUTE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737360" y="234086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bonnes pratiques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737360" y="2642616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 entière → 1 mois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5760" y="3054096"/>
            <a:ext cx="841248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A0632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5760" y="3054096"/>
            <a:ext cx="1280160" cy="640080"/>
          </a:xfrm>
          <a:prstGeom prst="rect">
            <a:avLst/>
          </a:prstGeom>
          <a:solidFill>
            <a:srgbClr val="A0632A"/>
          </a:solidFill>
          <a:ln w="12700">
            <a:solidFill>
              <a:srgbClr val="A063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3054096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HAUTE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737360" y="309981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à jour charte informatique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737360" y="340156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+ RH → 3 mois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65760" y="3813048"/>
            <a:ext cx="841248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65760" y="3813048"/>
            <a:ext cx="1280160" cy="64008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3813048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MOYENNE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737360" y="3858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2ème campagne de retest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737360" y="416052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bénévoles → 6 mois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6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n+1 : taux de clic &lt; 10% et soumission &lt; 5% après formation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pic>
        <p:nvPicPr>
          <p:cNvPr id="32" name="Image 1" descr="/home/claude/jesto-logo-ic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001768"/>
            <a:ext cx="128016" cy="128016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320040" y="498348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Jesto Informatique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8595360" y="498348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pic>
        <p:nvPicPr>
          <p:cNvPr id="3" name="Image 0" descr="/home/claude/jesto-logo-ic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1887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— Bilan personnel &amp; compétences mobilisées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65760" y="777240"/>
            <a:ext cx="411480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777240"/>
            <a:ext cx="73152" cy="68580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813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Admin. Linux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1064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Debian 13, systemd, UFW, Bash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1600200"/>
            <a:ext cx="411480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1600200"/>
            <a:ext cx="73152" cy="68580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16367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Réseau / DNS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19293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OVHcloud DNS, SPF, A/MX/TXT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2423160"/>
            <a:ext cx="411480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2423160"/>
            <a:ext cx="73152" cy="68580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24597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com.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27523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TLS, Let’s Encrypt, Certbot, HTTPS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" y="3246120"/>
            <a:ext cx="411480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3246120"/>
            <a:ext cx="73152" cy="68580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2826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mail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3575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Postfix, SMTP, SASL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54880" y="777240"/>
            <a:ext cx="411480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54880" y="777240"/>
            <a:ext cx="73152" cy="68580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37760" y="813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Serveur web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937760" y="11064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Nginx, reverse proxy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754880" y="1600200"/>
            <a:ext cx="411480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54880" y="1600200"/>
            <a:ext cx="73152" cy="68580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37760" y="16367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Cyberséc. offensive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937760" y="19293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GoPhish, social engineering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754880" y="2423160"/>
            <a:ext cx="411480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54880" y="2423160"/>
            <a:ext cx="73152" cy="68580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937760" y="24597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Dév. web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937760" y="27523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HTML/CSS (landing page + awareness)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54880" y="3246120"/>
            <a:ext cx="411480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754880" y="3246120"/>
            <a:ext cx="73152" cy="685800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937760" y="32826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/ SSH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937760" y="3575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 OVHcloud, PuTTY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B4F6A"/>
          </a:solidFill>
          <a:ln w="12700">
            <a:solidFill>
              <a:srgbClr val="1B4F6A"/>
            </a:solidFill>
            <a:prstDash val="solid"/>
          </a:ln>
        </p:spPr>
      </p:sp>
      <p:pic>
        <p:nvPicPr>
          <p:cNvPr id="38" name="Image 1" descr="/home/claude/jesto-logo-ic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001768"/>
            <a:ext cx="128016" cy="128016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320040" y="498348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Jesto Informatique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8595360" y="498348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4F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25880"/>
            <a:ext cx="9144000" cy="54864"/>
          </a:xfrm>
          <a:prstGeom prst="rect">
            <a:avLst/>
          </a:prstGeom>
          <a:solidFill>
            <a:srgbClr val="A0632A"/>
          </a:solidFill>
          <a:ln w="12700">
            <a:solidFill>
              <a:srgbClr val="A0632A"/>
            </a:solidFill>
            <a:prstDash val="solid"/>
          </a:ln>
        </p:spPr>
      </p:sp>
      <p:pic>
        <p:nvPicPr>
          <p:cNvPr id="3" name="Image 0" descr="/home/claude/jesto-logo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256032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508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2240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GoPhish + Postfix + Nginx validée en conditions réelles (513 cibles, 5 mai 2026)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 total de 61,35 € HT sur 6 mois — ROI élevé comparé aux solutions commerciales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de soumission de 17,3% et signalements à 2,3% → programme de sensibilisation urgent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réutilisable pour les campagnes futures et le retest à 6 mois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Apprentissages : déploiement prod. Linux/DNS/TLS/SMTP, gestion des contraintes juridiques et RGPD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Jesto Informatique — Paula Ciacan — Mai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Campagne Phishing AGSE - Jesto Informatique</dc:title>
  <dc:subject>PptxGenJS Presentation</dc:subject>
  <dc:creator>PptxGenJS</dc:creator>
  <cp:lastModifiedBy>PptxGenJS</cp:lastModifiedBy>
  <cp:revision>1</cp:revision>
  <dcterms:created xsi:type="dcterms:W3CDTF">2026-05-06T01:23:57Z</dcterms:created>
  <dcterms:modified xsi:type="dcterms:W3CDTF">2026-05-06T01:23:57Z</dcterms:modified>
</cp:coreProperties>
</file>